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0ee408c-b536-1e38-1648-13f8e5c8becb}">
          <p14:sldIdLst>
            <p14:sldId id="256"/>
            <p14:sldId id="257"/>
            <p14:sldId id="258"/>
            <p14:sldId id="259"/>
          </p14:sldIdLst>
        </p14:section>
        <p14:section name="Getting in" id="{9f9ca4c6-1457-3f38-8ce5-b0ab3322c3cc}">
          <p14:sldIdLst>
            <p14:sldId id="260"/>
            <p14:sldId id="261"/>
            <p14:sldId id="262"/>
            <p14:sldId id="263"/>
          </p14:sldIdLst>
        </p14:section>
        <p14:section name="Modules" id="{82687691-9eb7-16d0-5fc3-d3d3d6f731da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Reference" id="{168b85fa-cd51-b8f5-df9c-06c47391b929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walks through how to sign in, how the sidebar works, and which modules each account level - Administrator, Validator and Client - can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jobs: the Dashboard for everyone, F11 for validators who encode members, and F72 for clients who review the food recall data. My Profile and System Users support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Administrator has everything including System Users. Validator gets F11 for encoding. Client gets F72 for reviewing. Everyone gets the Dashboard and My Profile. Anyone who registers starts as a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checkmarks are the defaults per level. Access is per account, so an administrator can tick a module on or off for a single person without changing their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Accounts created by an administrator get one welcome email with a link to set their own password. Five wrong sign-in attempts lock the email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phone the sidebar folds away behind the menu button at the top left.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Typing the address of a module you do not have shows a 403 page - the sidebar is the reliable map of what you can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the landing page for everyone and reads the whole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Members with no history are marked Field tablet - they came from the tablets and have not been changed in this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saving, the area and household stay filled in so the next member of the same household is quicker to encode.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 can be up to the server limit shown on the page (currently about 8 MB) and 5,000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views share the filters at the top: province, municipality, barangay and recall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same files the old DDCS dashboard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needs another module, an administrator changes it in System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Deactivating an account signs the person out on their next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one-page summary to keep at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E8D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9E8D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E8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2"/>
                </a:solidFill>
              </a:rPr>
              <a:t>Dietary Dashboard  ·  DOST-FNRI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E8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navigation and user levels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E8D3"/>
                </a:solidFill>
              </a:rPr>
              <a:t>Dietary Dashboard  ·  DOST-FNRI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E8D3"/>
                </a:solidFill>
              </a:rPr>
              <a:t>How to get around the system and what each account level can open</a:t>
            </a:r>
            <a:endParaRPr lang="en-US" sz="1600" dirty="0"/>
          </a:p>
        </p:txBody>
      </p:sp>
      <p:sp>
        <p:nvSpPr>
          <p:cNvPr id="4" name="TbLeaf circle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5" name="TbLea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7336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Dietary Dashboard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850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E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DOST-FNRI</a:t>
            </a:r>
            <a:endParaRPr lang="en-US" sz="1200" dirty="0"/>
          </a:p>
        </p:txBody>
      </p:sp>
      <p:sp>
        <p:nvSpPr>
          <p:cNvPr id="8" name="Dashboard screenshot frame"/>
          <p:cNvSpPr/>
          <p:nvPr/>
        </p:nvSpPr>
        <p:spPr>
          <a:xfrm>
            <a:off x="5257800" y="1325880"/>
            <a:ext cx="3520440" cy="1979281"/>
          </a:xfrm>
          <a:prstGeom prst="roundRect">
            <a:avLst>
              <a:gd name="adj" fmla="val 2772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9" name="Dashboard screenshot" descr="Dashboard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353312"/>
            <a:ext cx="3465576" cy="19244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system, three jobs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Dietary Dashboard brings the DDCS survey data into one web system.</a:t>
            </a:r>
            <a:endParaRPr lang="en-US" sz="1500" dirty="0"/>
          </a:p>
        </p:txBody>
      </p:sp>
      <p:sp>
        <p:nvSpPr>
          <p:cNvPr id="4" name="Dashboard card"/>
          <p:cNvSpPr/>
          <p:nvPr/>
        </p:nvSpPr>
        <p:spPr>
          <a:xfrm>
            <a:off x="457200" y="1463040"/>
            <a:ext cx="2606040" cy="30175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5" name="TbLayoutDashboard circle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6" name="TbLayoutDashboar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186208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survey coverage, interview status, meals, weighing methods and researcher output at a glance.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users: Everyone</a:t>
            </a:r>
            <a:endParaRPr lang="en-US" sz="1200" dirty="0"/>
          </a:p>
        </p:txBody>
      </p:sp>
      <p:sp>
        <p:nvSpPr>
          <p:cNvPr id="10" name="F11 Encoding and Upload card"/>
          <p:cNvSpPr/>
          <p:nvPr/>
        </p:nvSpPr>
        <p:spPr>
          <a:xfrm>
            <a:off x="3273552" y="1463040"/>
            <a:ext cx="2606040" cy="30175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1" name="TbUpload circle"/>
          <p:cNvSpPr/>
          <p:nvPr/>
        </p:nvSpPr>
        <p:spPr>
          <a:xfrm>
            <a:off x="3547872" y="1737360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2" name="TbUploa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596" y="1862084"/>
            <a:ext cx="317480" cy="317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7872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 Encoding and Upload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47872" y="3017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household members one at a time or upload them from the CSV template. Every change is tracked.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547872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users: Validators</a:t>
            </a:r>
            <a:endParaRPr lang="en-US" sz="1200" dirty="0"/>
          </a:p>
        </p:txBody>
      </p:sp>
      <p:sp>
        <p:nvSpPr>
          <p:cNvPr id="16" name="F72 Food Recall card"/>
          <p:cNvSpPr/>
          <p:nvPr/>
        </p:nvSpPr>
        <p:spPr>
          <a:xfrm>
            <a:off x="6089904" y="1463040"/>
            <a:ext cx="2606040" cy="3017520"/>
          </a:xfrm>
          <a:prstGeom prst="roundRect">
            <a:avLst>
              <a:gd name="adj" fmla="val 3509"/>
            </a:avLst>
          </a:prstGeom>
          <a:solidFill>
            <a:schemeClr val="bg2"/>
          </a:solidFill>
          <a:ln/>
        </p:spPr>
      </p:sp>
      <p:sp>
        <p:nvSpPr>
          <p:cNvPr id="17" name="TbTable circle"/>
          <p:cNvSpPr/>
          <p:nvPr/>
        </p:nvSpPr>
        <p:spPr>
          <a:xfrm>
            <a:off x="6364224" y="1737360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8" name="TbTabl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948" y="1862084"/>
            <a:ext cx="317480" cy="3174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64224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F72 Food Recall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364224" y="30175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coverage by barangay, households, members recalled and food lines - and download the data.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6364224" y="4069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users: Clients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user levels</a:t>
            </a:r>
            <a:endParaRPr lang="en-US" sz="2800" dirty="0"/>
          </a:p>
        </p:txBody>
      </p:sp>
      <p:sp>
        <p:nvSpPr>
          <p:cNvPr id="3" name="Administrator card"/>
          <p:cNvSpPr/>
          <p:nvPr/>
        </p:nvSpPr>
        <p:spPr>
          <a:xfrm>
            <a:off x="457200" y="105156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E3F1E7"/>
          </a:solidFill>
          <a:ln/>
        </p:spPr>
      </p:sp>
      <p:sp>
        <p:nvSpPr>
          <p:cNvPr id="4" name="TbShieldCheck circle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0F3D22"/>
          </a:solidFill>
          <a:ln/>
        </p:spPr>
      </p:sp>
      <p:pic>
        <p:nvPicPr>
          <p:cNvPr id="5" name="TbShield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4008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07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6093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leads and system managers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by default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395728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F11 Encoding and Upload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F72 Food Recall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 Profile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System Users</a:t>
            </a:r>
            <a:endParaRPr lang="en-US" sz="1400" dirty="0"/>
          </a:p>
        </p:txBody>
      </p:sp>
      <p:sp>
        <p:nvSpPr>
          <p:cNvPr id="10" name="Validator card"/>
          <p:cNvSpPr/>
          <p:nvPr/>
        </p:nvSpPr>
        <p:spPr>
          <a:xfrm>
            <a:off x="3273552" y="105156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E6EEFC"/>
          </a:solidFill>
          <a:ln/>
        </p:spPr>
      </p:sp>
      <p:sp>
        <p:nvSpPr>
          <p:cNvPr id="11" name="TbClipboardCheck circle"/>
          <p:cNvSpPr/>
          <p:nvPr/>
        </p:nvSpPr>
        <p:spPr>
          <a:xfrm>
            <a:off x="3547872" y="1280160"/>
            <a:ext cx="548640" cy="548640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12" name="TbClipboard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573" y="14008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33672" y="1307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233672" y="16093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validators and encoders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3547872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by default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2395728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F11 Encoding and Upload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 Profile</a:t>
            </a:r>
            <a:endParaRPr lang="en-US" sz="1400" dirty="0"/>
          </a:p>
        </p:txBody>
      </p:sp>
      <p:sp>
        <p:nvSpPr>
          <p:cNvPr id="17" name="Client card"/>
          <p:cNvSpPr/>
          <p:nvPr/>
        </p:nvSpPr>
        <p:spPr>
          <a:xfrm>
            <a:off x="6089904" y="105156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E8F6EC"/>
          </a:solidFill>
          <a:ln/>
        </p:spPr>
      </p:sp>
      <p:sp>
        <p:nvSpPr>
          <p:cNvPr id="18" name="TbChartBar circle"/>
          <p:cNvSpPr/>
          <p:nvPr/>
        </p:nvSpPr>
        <p:spPr>
          <a:xfrm>
            <a:off x="6364224" y="128016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9" name="TbChartBar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5" y="1400861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50024" y="130759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7050024" y="16093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users and reviewers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21031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by default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64224" y="2395728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F72 Food Recall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My Profile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registrations start as Client. Administrators set each account’s level in System Users.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access by level</a:t>
            </a:r>
            <a:endParaRPr lang="en-US" sz="2800" dirty="0"/>
          </a:p>
        </p:txBody>
      </p:sp>
      <p:graphicFrame>
        <p:nvGraphicFramePr>
          <p:cNvPr id="5" name="Access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34440"/>
                <a:gridCol w="1097280"/>
                <a:gridCol w="1005840"/>
                <a:gridCol w="2697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Survey-wide figures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F11 Encoding and Upload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B3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 and upload household members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F72 Food 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B3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Coverage, recalls and data downloads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details and password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B3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B3A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Accounts, levels and module access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Note card"/>
          <p:cNvSpPr/>
          <p:nvPr/>
        </p:nvSpPr>
        <p:spPr>
          <a:xfrm>
            <a:off x="457200" y="36118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EF6E7"/>
          </a:solidFill>
          <a:ln/>
        </p:spPr>
      </p:sp>
      <p:sp>
        <p:nvSpPr>
          <p:cNvPr id="5" name="TbAdjustmentsHorizontal circle"/>
          <p:cNvSpPr/>
          <p:nvPr/>
        </p:nvSpPr>
        <p:spPr>
          <a:xfrm>
            <a:off x="640080" y="3794760"/>
            <a:ext cx="502920" cy="502920"/>
          </a:xfrm>
          <a:prstGeom prst="ellipse">
            <a:avLst/>
          </a:prstGeom>
          <a:solidFill>
            <a:srgbClr val="B45309"/>
          </a:solidFill>
          <a:ln/>
        </p:spPr>
      </p:sp>
      <p:pic>
        <p:nvPicPr>
          <p:cNvPr id="6" name="TbAdjustmentsHorizont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722" y="3905402"/>
            <a:ext cx="281635" cy="28163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3749040"/>
            <a:ext cx="7178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338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defaults. In System Users an administrator can switch any module on or off for one account - for example give a validator F72 too. System Users itself is for administrators only, and administrators always have every module.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in and getting around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E8D3"/>
                </a:solidFill>
              </a:rPr>
              <a:t>Signing in, registering, and the sidebar every page shares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E8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in and registering</a:t>
            </a:r>
            <a:endParaRPr lang="en-US" sz="2800" dirty="0"/>
          </a:p>
        </p:txBody>
      </p:sp>
      <p:sp>
        <p:nvSpPr>
          <p:cNvPr id="3" name="Sign-in page frame"/>
          <p:cNvSpPr/>
          <p:nvPr/>
        </p:nvSpPr>
        <p:spPr>
          <a:xfrm>
            <a:off x="457200" y="1051560"/>
            <a:ext cx="4572000" cy="2570495"/>
          </a:xfrm>
          <a:prstGeom prst="roundRect">
            <a:avLst>
              <a:gd name="adj" fmla="val 2134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4" name="Sign-in page" descr="Sign-in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4517136" cy="25156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49240" y="1097280"/>
            <a:ext cx="3337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email and password. You land on your first module.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Register tab. New accounts are Clients.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link sent to you before you can sign in.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8+ characters with upper and lower case, a number and a symbol.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password?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reset link to your email.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your way: the sidebar</a:t>
            </a:r>
            <a:endParaRPr lang="en-US" sz="2800" dirty="0"/>
          </a:p>
        </p:txBody>
      </p:sp>
      <p:sp>
        <p:nvSpPr>
          <p:cNvPr id="3" name="Dashboard with sidebar frame"/>
          <p:cNvSpPr/>
          <p:nvPr/>
        </p:nvSpPr>
        <p:spPr>
          <a:xfrm>
            <a:off x="457200" y="1051560"/>
            <a:ext cx="5120640" cy="2878954"/>
          </a:xfrm>
          <a:prstGeom prst="roundRect">
            <a:avLst>
              <a:gd name="adj" fmla="val 1906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4" name="Dashboard with sidebar" descr="Dashboard with side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5065776" cy="2824090"/>
          </a:xfrm>
          <a:prstGeom prst="rect">
            <a:avLst/>
          </a:prstGeom>
        </p:spPr>
      </p:pic>
      <p:sp>
        <p:nvSpPr>
          <p:cNvPr id="5" name="callout 1"/>
          <p:cNvSpPr/>
          <p:nvPr/>
        </p:nvSpPr>
        <p:spPr>
          <a:xfrm>
            <a:off x="1225671" y="1407681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25671" y="140768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callout 2"/>
          <p:cNvSpPr/>
          <p:nvPr/>
        </p:nvSpPr>
        <p:spPr>
          <a:xfrm>
            <a:off x="1225671" y="3338229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25671" y="333822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callout 3"/>
          <p:cNvSpPr/>
          <p:nvPr/>
        </p:nvSpPr>
        <p:spPr>
          <a:xfrm>
            <a:off x="2856329" y="1164019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56329" y="116401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callout 4"/>
          <p:cNvSpPr/>
          <p:nvPr/>
        </p:nvSpPr>
        <p:spPr>
          <a:xfrm>
            <a:off x="5367916" y="1164019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67916" y="116401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callout 1"/>
          <p:cNvSpPr/>
          <p:nvPr/>
        </p:nvSpPr>
        <p:spPr>
          <a:xfrm>
            <a:off x="5852160" y="1069848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1069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36245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 your account can open. The current page is highlighted.</a:t>
            </a:r>
            <a:endParaRPr lang="en-US" sz="1200" dirty="0"/>
          </a:p>
        </p:txBody>
      </p:sp>
      <p:sp>
        <p:nvSpPr>
          <p:cNvPr id="17" name="callout 2"/>
          <p:cNvSpPr/>
          <p:nvPr/>
        </p:nvSpPr>
        <p:spPr>
          <a:xfrm>
            <a:off x="5852160" y="1965960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5216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account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22585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name, level and the Sign out button.</a:t>
            </a:r>
            <a:endParaRPr lang="en-US" sz="1200" dirty="0"/>
          </a:p>
        </p:txBody>
      </p:sp>
      <p:sp>
        <p:nvSpPr>
          <p:cNvPr id="21" name="callout 3"/>
          <p:cNvSpPr/>
          <p:nvPr/>
        </p:nvSpPr>
        <p:spPr>
          <a:xfrm>
            <a:off x="5852160" y="2862072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5216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2843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header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315468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page shows, in one line.</a:t>
            </a:r>
            <a:endParaRPr lang="en-US" sz="1200" dirty="0"/>
          </a:p>
        </p:txBody>
      </p:sp>
      <p:sp>
        <p:nvSpPr>
          <p:cNvPr id="25" name="callout 4"/>
          <p:cNvSpPr/>
          <p:nvPr/>
        </p:nvSpPr>
        <p:spPr>
          <a:xfrm>
            <a:off x="5852160" y="3758184"/>
            <a:ext cx="329184" cy="329184"/>
          </a:xfrm>
          <a:prstGeom prst="ellipse">
            <a:avLst/>
          </a:prstGeom>
          <a:solidFill>
            <a:srgbClr val="B4530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52160" y="3758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309360" y="3739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actions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309360" y="405079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such as Coverage by barangay or CSV template.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level sees its own sidebar</a:t>
            </a:r>
            <a:endParaRPr lang="en-US" sz="2800" dirty="0"/>
          </a:p>
        </p:txBody>
      </p:sp>
      <p:sp>
        <p:nvSpPr>
          <p:cNvPr id="3" name="Administrator panel"/>
          <p:cNvSpPr/>
          <p:nvPr/>
        </p:nvSpPr>
        <p:spPr>
          <a:xfrm>
            <a:off x="457200" y="1051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3F1E7"/>
          </a:solidFill>
          <a:ln/>
        </p:spPr>
      </p:sp>
      <p:pic>
        <p:nvPicPr>
          <p:cNvPr id="4" name="Administrator sidebar" descr="Administrator side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990124" cy="2880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67364" y="1280160"/>
            <a:ext cx="1204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767364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3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1767364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8" name="Validator panel"/>
          <p:cNvSpPr/>
          <p:nvPr/>
        </p:nvSpPr>
        <p:spPr>
          <a:xfrm>
            <a:off x="3273552" y="1051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6EEFC"/>
          </a:solidFill>
          <a:ln/>
        </p:spPr>
      </p:sp>
      <p:pic>
        <p:nvPicPr>
          <p:cNvPr id="9" name="Validator sidebar" descr="Validator side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1234440"/>
            <a:ext cx="990124" cy="28803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83716" y="1280160"/>
            <a:ext cx="1204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Validator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83716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8"/>
          <p:cNvSpPr txBox="1"/>
          <p:nvPr/>
        </p:nvSpPr>
        <p:spPr>
          <a:xfrm>
            <a:off x="4583716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3" name="Client panel"/>
          <p:cNvSpPr/>
          <p:nvPr/>
        </p:nvSpPr>
        <p:spPr>
          <a:xfrm>
            <a:off x="6089904" y="105156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8F6EC"/>
          </a:solidFill>
          <a:ln/>
        </p:spPr>
      </p:sp>
      <p:pic>
        <p:nvPicPr>
          <p:cNvPr id="14" name="Client sidebar" descr="Client sideb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234440"/>
            <a:ext cx="990124" cy="28803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00068" y="1280160"/>
            <a:ext cx="12044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7400068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2"/>
          <p:cNvSpPr txBox="1"/>
          <p:nvPr/>
        </p:nvSpPr>
        <p:spPr>
          <a:xfrm>
            <a:off x="7400068" y="22402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46227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the demo accounts: Demo Admin, Demo Validator, Demo Client.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modules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E8D3"/>
                </a:solidFill>
              </a:rPr>
              <a:t>Dashboard  ·  F11 Encoding and Upload  ·  F72 Food Recall  ·  My Profile  ·  System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9E8D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2800" dirty="0"/>
          </a:p>
        </p:txBody>
      </p:sp>
      <p:sp>
        <p:nvSpPr>
          <p:cNvPr id="3" name="Client tag"/>
          <p:cNvSpPr/>
          <p:nvPr/>
        </p:nvSpPr>
        <p:spPr>
          <a:xfrm>
            <a:off x="8110728" y="4297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E8F6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10728" y="4297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5" name="Validator tag"/>
          <p:cNvSpPr/>
          <p:nvPr/>
        </p:nvSpPr>
        <p:spPr>
          <a:xfrm>
            <a:off x="7228332" y="429768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6EE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8332" y="429768"/>
            <a:ext cx="80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7" name="Administrator tag"/>
          <p:cNvSpPr/>
          <p:nvPr/>
        </p:nvSpPr>
        <p:spPr>
          <a:xfrm>
            <a:off x="6035040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9" name="Dashboard frame"/>
          <p:cNvSpPr/>
          <p:nvPr/>
        </p:nvSpPr>
        <p:spPr>
          <a:xfrm>
            <a:off x="457200" y="1051560"/>
            <a:ext cx="5120640" cy="2878954"/>
          </a:xfrm>
          <a:prstGeom prst="roundRect">
            <a:avLst>
              <a:gd name="adj" fmla="val 1906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10" name="Dashboard" descr="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5065776" cy="28240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figures: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households, coverage, F11 members and F72 food lines.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status, meals, weighing method, municipalities and top foods.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performance: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and day 2 food lines per researcher, with search.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by barangay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F72 for accounts that have 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F11: encoded members</a:t>
            </a:r>
            <a:endParaRPr lang="en-US" sz="2800" dirty="0"/>
          </a:p>
        </p:txBody>
      </p:sp>
      <p:sp>
        <p:nvSpPr>
          <p:cNvPr id="3" name="Validator tag"/>
          <p:cNvSpPr/>
          <p:nvPr/>
        </p:nvSpPr>
        <p:spPr>
          <a:xfrm>
            <a:off x="7877556" y="429768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6EE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77556" y="429768"/>
            <a:ext cx="80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5" name="Administrator tag"/>
          <p:cNvSpPr/>
          <p:nvPr/>
        </p:nvSpPr>
        <p:spPr>
          <a:xfrm>
            <a:off x="6684264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84264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7" name="F11 encoded members frame"/>
          <p:cNvSpPr/>
          <p:nvPr/>
        </p:nvSpPr>
        <p:spPr>
          <a:xfrm>
            <a:off x="457200" y="1051560"/>
            <a:ext cx="5120640" cy="2878954"/>
          </a:xfrm>
          <a:prstGeom prst="roundRect">
            <a:avLst>
              <a:gd name="adj" fmla="val 1906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8" name="F11 encoded members" descr="F11 encoded memb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5065776" cy="28240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area, by who added or edited, or by one upload.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each member and who last edited it.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correct a record. Records are never deleted.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every change, before and after.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 are blurred in these screenshots.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F11: encode a member</a:t>
            </a:r>
            <a:endParaRPr lang="en-US" sz="2800" dirty="0"/>
          </a:p>
        </p:txBody>
      </p:sp>
      <p:sp>
        <p:nvSpPr>
          <p:cNvPr id="3" name="Validator tag"/>
          <p:cNvSpPr/>
          <p:nvPr/>
        </p:nvSpPr>
        <p:spPr>
          <a:xfrm>
            <a:off x="7877556" y="429768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6EE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77556" y="429768"/>
            <a:ext cx="80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5" name="Administrator tag"/>
          <p:cNvSpPr/>
          <p:nvPr/>
        </p:nvSpPr>
        <p:spPr>
          <a:xfrm>
            <a:off x="6684264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84264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7" name="F11 encode form frame"/>
          <p:cNvSpPr/>
          <p:nvPr/>
        </p:nvSpPr>
        <p:spPr>
          <a:xfrm>
            <a:off x="457200" y="1051560"/>
            <a:ext cx="5120640" cy="2878954"/>
          </a:xfrm>
          <a:prstGeom prst="roundRect">
            <a:avLst>
              <a:gd name="adj" fmla="val 1906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8" name="F11 encode form" descr="F11 encode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5065776" cy="28240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area,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listed household to fill in identifiers 1 to 3.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worked out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birthdate and reference date.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the tablets save it: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in capitals, member no. 01.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are blocked: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area, household and member no.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F11: upload a CSV batch</a:t>
            </a:r>
            <a:endParaRPr lang="en-US" sz="2800" dirty="0"/>
          </a:p>
        </p:txBody>
      </p:sp>
      <p:sp>
        <p:nvSpPr>
          <p:cNvPr id="3" name="Validator tag"/>
          <p:cNvSpPr/>
          <p:nvPr/>
        </p:nvSpPr>
        <p:spPr>
          <a:xfrm>
            <a:off x="7877556" y="429768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6EE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877556" y="429768"/>
            <a:ext cx="80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5" name="Administrator tag"/>
          <p:cNvSpPr/>
          <p:nvPr/>
        </p:nvSpPr>
        <p:spPr>
          <a:xfrm>
            <a:off x="6684264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84264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7" name="Step 1"/>
          <p:cNvSpPr/>
          <p:nvPr/>
        </p:nvSpPr>
        <p:spPr>
          <a:xfrm>
            <a:off x="457200" y="105156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8" name="TbFileDownload circle"/>
          <p:cNvSpPr/>
          <p:nvPr/>
        </p:nvSpPr>
        <p:spPr>
          <a:xfrm>
            <a:off x="640080" y="118872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9" name="TbFileDownloa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2893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87452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3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template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template button</a:t>
            </a:r>
            <a:endParaRPr lang="en-US" sz="1100" dirty="0"/>
          </a:p>
        </p:txBody>
      </p:sp>
      <p:pic>
        <p:nvPicPr>
          <p:cNvPr id="13" name="arrow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1627632"/>
            <a:ext cx="201168" cy="201168"/>
          </a:xfrm>
          <a:prstGeom prst="rect">
            <a:avLst/>
          </a:prstGeom>
        </p:spPr>
      </p:pic>
      <p:sp>
        <p:nvSpPr>
          <p:cNvPr id="14" name="Step 2"/>
          <p:cNvSpPr/>
          <p:nvPr/>
        </p:nvSpPr>
        <p:spPr>
          <a:xfrm>
            <a:off x="2560320" y="105156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5" name="TbTableRow circle"/>
          <p:cNvSpPr/>
          <p:nvPr/>
        </p:nvSpPr>
        <p:spPr>
          <a:xfrm>
            <a:off x="2743200" y="118872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6" name="TbTable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128930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7764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3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2743200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one member per row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274320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first row</a:t>
            </a:r>
            <a:endParaRPr lang="en-US" sz="1100" dirty="0"/>
          </a:p>
        </p:txBody>
      </p:sp>
      <p:pic>
        <p:nvPicPr>
          <p:cNvPr id="20" name="arrow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1627632"/>
            <a:ext cx="201168" cy="201168"/>
          </a:xfrm>
          <a:prstGeom prst="rect">
            <a:avLst/>
          </a:prstGeom>
        </p:spPr>
      </p:pic>
      <p:sp>
        <p:nvSpPr>
          <p:cNvPr id="21" name="Step 3"/>
          <p:cNvSpPr/>
          <p:nvPr/>
        </p:nvSpPr>
        <p:spPr>
          <a:xfrm>
            <a:off x="4663440" y="105156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2" name="TbFileUpload circle"/>
          <p:cNvSpPr/>
          <p:nvPr/>
        </p:nvSpPr>
        <p:spPr>
          <a:xfrm>
            <a:off x="4846320" y="118872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23" name="TbFileUploa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1289304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08076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3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18"/>
          <p:cNvSpPr txBox="1"/>
          <p:nvPr/>
        </p:nvSpPr>
        <p:spPr>
          <a:xfrm>
            <a:off x="4846320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file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484632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automatically</a:t>
            </a:r>
            <a:endParaRPr lang="en-US" sz="1100" dirty="0"/>
          </a:p>
        </p:txBody>
      </p:sp>
      <p:pic>
        <p:nvPicPr>
          <p:cNvPr id="27" name="arrow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1627632"/>
            <a:ext cx="201168" cy="201168"/>
          </a:xfrm>
          <a:prstGeom prst="rect">
            <a:avLst/>
          </a:prstGeom>
        </p:spPr>
      </p:pic>
      <p:sp>
        <p:nvSpPr>
          <p:cNvPr id="28" name="Step 4"/>
          <p:cNvSpPr/>
          <p:nvPr/>
        </p:nvSpPr>
        <p:spPr>
          <a:xfrm>
            <a:off x="6766560" y="105156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29" name="TbChecklist circle"/>
          <p:cNvSpPr/>
          <p:nvPr/>
        </p:nvSpPr>
        <p:spPr>
          <a:xfrm>
            <a:off x="6949440" y="1188720"/>
            <a:ext cx="457200" cy="45720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30" name="TbChecklist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0024" y="1289304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183880" y="1188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A3C9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23"/>
          <p:cNvSpPr txBox="1"/>
          <p:nvPr/>
        </p:nvSpPr>
        <p:spPr>
          <a:xfrm>
            <a:off x="6949440" y="17373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import</a:t>
            </a:r>
            <a:endParaRPr lang="en-US" sz="1300" dirty="0"/>
          </a:p>
        </p:txBody>
      </p:sp>
      <p:sp>
        <p:nvSpPr>
          <p:cNvPr id="33" name="Text 24"/>
          <p:cNvSpPr txBox="1"/>
          <p:nvPr/>
        </p:nvSpPr>
        <p:spPr>
          <a:xfrm>
            <a:off x="694944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updates, problems</a:t>
            </a:r>
            <a:endParaRPr lang="en-US" sz="1100" dirty="0"/>
          </a:p>
        </p:txBody>
      </p:sp>
      <p:sp>
        <p:nvSpPr>
          <p:cNvPr id="34" name="F11 upload page frame"/>
          <p:cNvSpPr/>
          <p:nvPr/>
        </p:nvSpPr>
        <p:spPr>
          <a:xfrm>
            <a:off x="457200" y="2651760"/>
            <a:ext cx="3657600" cy="20563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35" name="F11 upload page" descr="F11 upload pa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" y="2679192"/>
            <a:ext cx="3602736" cy="2001532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4434840" y="2743200"/>
            <a:ext cx="4251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shows the upload progress, then the check, then the result.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problems are listed by line and column and left out.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member already in F11 is updated; anyone else is added.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upload is logged and its members can be listed again.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F72 Food Recall: four views</a:t>
            </a:r>
            <a:endParaRPr lang="en-US" sz="2800" dirty="0"/>
          </a:p>
        </p:txBody>
      </p:sp>
      <p:sp>
        <p:nvSpPr>
          <p:cNvPr id="3" name="Client tag"/>
          <p:cNvSpPr/>
          <p:nvPr/>
        </p:nvSpPr>
        <p:spPr>
          <a:xfrm>
            <a:off x="8110728" y="4297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E8F6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10728" y="4297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5" name="Administrator tag"/>
          <p:cNvSpPr/>
          <p:nvPr/>
        </p:nvSpPr>
        <p:spPr>
          <a:xfrm>
            <a:off x="6917436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17436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7" name="Coverage by barangay frame"/>
          <p:cNvSpPr/>
          <p:nvPr/>
        </p:nvSpPr>
        <p:spPr>
          <a:xfrm>
            <a:off x="457200" y="1005840"/>
            <a:ext cx="2286000" cy="1285247"/>
          </a:xfrm>
          <a:prstGeom prst="roundRect">
            <a:avLst>
              <a:gd name="adj" fmla="val 4269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8" name="Coverage by barangay" descr="Coverage by baranga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33272"/>
            <a:ext cx="2231136" cy="123038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926080" y="1234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by barangay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92608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barangay to open it</a:t>
            </a:r>
            <a:endParaRPr lang="en-US" sz="1200" dirty="0"/>
          </a:p>
        </p:txBody>
      </p:sp>
      <p:sp>
        <p:nvSpPr>
          <p:cNvPr id="11" name="Households frame"/>
          <p:cNvSpPr/>
          <p:nvPr/>
        </p:nvSpPr>
        <p:spPr>
          <a:xfrm>
            <a:off x="4663440" y="1005840"/>
            <a:ext cx="2286000" cy="1285247"/>
          </a:xfrm>
          <a:prstGeom prst="roundRect">
            <a:avLst>
              <a:gd name="adj" fmla="val 4269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12" name="Households" descr="Househol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033272"/>
            <a:ext cx="2231136" cy="123038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32320" y="12344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132320" y="1737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and day 2 recalls, ZIP per household</a:t>
            </a:r>
            <a:endParaRPr lang="en-US" sz="1200" dirty="0"/>
          </a:p>
        </p:txBody>
      </p:sp>
      <p:sp>
        <p:nvSpPr>
          <p:cNvPr id="15" name="Members recalled frame"/>
          <p:cNvSpPr/>
          <p:nvPr/>
        </p:nvSpPr>
        <p:spPr>
          <a:xfrm>
            <a:off x="457200" y="2880360"/>
            <a:ext cx="2286000" cy="1285247"/>
          </a:xfrm>
          <a:prstGeom prst="roundRect">
            <a:avLst>
              <a:gd name="adj" fmla="val 4269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16" name="Members recalled" descr="Members recalle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2907792"/>
            <a:ext cx="2231136" cy="123038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926080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recalled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926080" y="3611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from F11, lines per day</a:t>
            </a:r>
            <a:endParaRPr lang="en-US" sz="1200" dirty="0"/>
          </a:p>
        </p:txBody>
      </p:sp>
      <p:sp>
        <p:nvSpPr>
          <p:cNvPr id="19" name="Food lines frame"/>
          <p:cNvSpPr/>
          <p:nvPr/>
        </p:nvSpPr>
        <p:spPr>
          <a:xfrm>
            <a:off x="4663440" y="2880360"/>
            <a:ext cx="2286000" cy="1285247"/>
          </a:xfrm>
          <a:prstGeom prst="roundRect">
            <a:avLst>
              <a:gd name="adj" fmla="val 4269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20" name="Food lines" descr="Food l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907792"/>
            <a:ext cx="2231136" cy="123038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32320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lines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132320" y="36118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Meal, food item, weight, method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F72: downloads</a:t>
            </a:r>
            <a:endParaRPr lang="en-US" sz="2800" dirty="0"/>
          </a:p>
        </p:txBody>
      </p:sp>
      <p:sp>
        <p:nvSpPr>
          <p:cNvPr id="3" name="Client tag"/>
          <p:cNvSpPr/>
          <p:nvPr/>
        </p:nvSpPr>
        <p:spPr>
          <a:xfrm>
            <a:off x="8110728" y="4297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E8F6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10728" y="4297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5" name="Administrator tag"/>
          <p:cNvSpPr/>
          <p:nvPr/>
        </p:nvSpPr>
        <p:spPr>
          <a:xfrm>
            <a:off x="6917436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917436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7" name="Merged F72 CSV card"/>
          <p:cNvSpPr/>
          <p:nvPr/>
        </p:nvSpPr>
        <p:spPr>
          <a:xfrm>
            <a:off x="457200" y="1051560"/>
            <a:ext cx="402336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8" name="TbFileSpreadsheet circle"/>
          <p:cNvSpPr/>
          <p:nvPr/>
        </p:nvSpPr>
        <p:spPr>
          <a:xfrm>
            <a:off x="640080" y="1280160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9" name="TbFileSpreadshe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40086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1887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F72 CSV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148132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food line, with its household and F11 member beside it.</a:t>
            </a:r>
            <a:endParaRPr lang="en-US" sz="1200" dirty="0"/>
          </a:p>
        </p:txBody>
      </p:sp>
      <p:sp>
        <p:nvSpPr>
          <p:cNvPr id="12" name="All tables (ZIP) card"/>
          <p:cNvSpPr/>
          <p:nvPr/>
        </p:nvSpPr>
        <p:spPr>
          <a:xfrm>
            <a:off x="457200" y="2221992"/>
            <a:ext cx="402336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13" name="TbFileZip circle"/>
          <p:cNvSpPr/>
          <p:nvPr/>
        </p:nvSpPr>
        <p:spPr>
          <a:xfrm>
            <a:off x="640080" y="2450592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4" name="TbFileZ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571293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71600" y="23591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(ZIP)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1371600" y="26517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survey table as a CSV plus the merged report, for the filtered area.</a:t>
            </a:r>
            <a:endParaRPr lang="en-US" sz="1200" dirty="0"/>
          </a:p>
        </p:txBody>
      </p:sp>
      <p:sp>
        <p:nvSpPr>
          <p:cNvPr id="17" name="Per barangay and household card"/>
          <p:cNvSpPr/>
          <p:nvPr/>
        </p:nvSpPr>
        <p:spPr>
          <a:xfrm>
            <a:off x="457200" y="3392424"/>
            <a:ext cx="4023360" cy="1024128"/>
          </a:xfrm>
          <a:prstGeom prst="roundRect">
            <a:avLst>
              <a:gd name="adj" fmla="val 8929"/>
            </a:avLst>
          </a:prstGeom>
          <a:solidFill>
            <a:schemeClr val="bg2"/>
          </a:solidFill>
          <a:ln/>
        </p:spPr>
      </p:sp>
      <p:sp>
        <p:nvSpPr>
          <p:cNvPr id="18" name="TbFolders circle"/>
          <p:cNvSpPr/>
          <p:nvPr/>
        </p:nvSpPr>
        <p:spPr>
          <a:xfrm>
            <a:off x="640080" y="3621024"/>
            <a:ext cx="548640" cy="548640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19" name="TbFolder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741725"/>
            <a:ext cx="307238" cy="30723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35295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barangay and household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1371600" y="38221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per barangay with a folder per household. Pick a province first.</a:t>
            </a:r>
            <a:endParaRPr lang="en-US" sz="1200" dirty="0"/>
          </a:p>
        </p:txBody>
      </p:sp>
      <p:sp>
        <p:nvSpPr>
          <p:cNvPr id="22" name="F72 filters and downloads frame"/>
          <p:cNvSpPr/>
          <p:nvPr/>
        </p:nvSpPr>
        <p:spPr>
          <a:xfrm>
            <a:off x="4754880" y="1051560"/>
            <a:ext cx="3931920" cy="2210626"/>
          </a:xfrm>
          <a:prstGeom prst="roundRect">
            <a:avLst>
              <a:gd name="adj" fmla="val 2482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23" name="F72 filters and downloads" descr="F72 filters and download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078992"/>
            <a:ext cx="3877056" cy="215576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754880" y="3429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follow the filters you have set. The household icon in the Households view downloads one household.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Profile</a:t>
            </a:r>
            <a:endParaRPr lang="en-US" sz="2800" dirty="0"/>
          </a:p>
        </p:txBody>
      </p:sp>
      <p:sp>
        <p:nvSpPr>
          <p:cNvPr id="3" name="Client tag"/>
          <p:cNvSpPr/>
          <p:nvPr/>
        </p:nvSpPr>
        <p:spPr>
          <a:xfrm>
            <a:off x="8110728" y="429768"/>
            <a:ext cx="576072" cy="274320"/>
          </a:xfrm>
          <a:prstGeom prst="roundRect">
            <a:avLst>
              <a:gd name="adj" fmla="val 50000"/>
            </a:avLst>
          </a:prstGeom>
          <a:solidFill>
            <a:srgbClr val="E8F6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10728" y="42976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5" name="Validator tag"/>
          <p:cNvSpPr/>
          <p:nvPr/>
        </p:nvSpPr>
        <p:spPr>
          <a:xfrm>
            <a:off x="7228332" y="429768"/>
            <a:ext cx="809244" cy="274320"/>
          </a:xfrm>
          <a:prstGeom prst="roundRect">
            <a:avLst>
              <a:gd name="adj" fmla="val 50000"/>
            </a:avLst>
          </a:prstGeom>
          <a:solidFill>
            <a:srgbClr val="E6EE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8332" y="429768"/>
            <a:ext cx="8092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7" name="Administrator tag"/>
          <p:cNvSpPr/>
          <p:nvPr/>
        </p:nvSpPr>
        <p:spPr>
          <a:xfrm>
            <a:off x="6035040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35040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9" name="My Profile frame"/>
          <p:cNvSpPr/>
          <p:nvPr/>
        </p:nvSpPr>
        <p:spPr>
          <a:xfrm>
            <a:off x="457200" y="1051560"/>
            <a:ext cx="5120640" cy="2878954"/>
          </a:xfrm>
          <a:prstGeom prst="roundRect">
            <a:avLst>
              <a:gd name="adj" fmla="val 1906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10" name="My Profile" descr="My Profi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5065776" cy="28240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details: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and mobile number.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your email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new verification link.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password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current password.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modules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what your account can open.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Users</a:t>
            </a:r>
            <a:endParaRPr lang="en-US" sz="2800" dirty="0"/>
          </a:p>
        </p:txBody>
      </p:sp>
      <p:sp>
        <p:nvSpPr>
          <p:cNvPr id="3" name="Administrator tag"/>
          <p:cNvSpPr/>
          <p:nvPr/>
        </p:nvSpPr>
        <p:spPr>
          <a:xfrm>
            <a:off x="7566660" y="429768"/>
            <a:ext cx="1120140" cy="274320"/>
          </a:xfrm>
          <a:prstGeom prst="roundRect">
            <a:avLst>
              <a:gd name="adj" fmla="val 50000"/>
            </a:avLst>
          </a:prstGeom>
          <a:solidFill>
            <a:srgbClr val="E3F1E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566660" y="429768"/>
            <a:ext cx="11201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</a:t>
            </a:r>
            <a:endParaRPr lang="en-US" sz="1000" dirty="0"/>
          </a:p>
        </p:txBody>
      </p:sp>
      <p:sp>
        <p:nvSpPr>
          <p:cNvPr id="5" name="System Users frame"/>
          <p:cNvSpPr/>
          <p:nvPr/>
        </p:nvSpPr>
        <p:spPr>
          <a:xfrm>
            <a:off x="457200" y="1051560"/>
            <a:ext cx="5120640" cy="2878954"/>
          </a:xfrm>
          <a:prstGeom prst="roundRect">
            <a:avLst>
              <a:gd name="adj" fmla="val 1906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6" name="System Users" descr="System Us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078992"/>
            <a:ext cx="5065776" cy="28240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 account and emails a link to set a password.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name, level or active status.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 module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or close it for that account.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level and search by name or email.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02336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accounts are blurred; the demo accounts are shown.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reference: where to go</a:t>
            </a:r>
            <a:endParaRPr lang="en-US" sz="2800" dirty="0"/>
          </a:p>
        </p:txBody>
      </p:sp>
      <p:graphicFrame>
        <p:nvGraphicFramePr>
          <p:cNvPr id="19" name="Quick referen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74320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 to...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overall coverage and figures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 a household 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F11  ›  Encode a 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Validator,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many members at once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F11  ›  Upload 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Validator,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who changed a member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F11  ›  History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Validator,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a barangay’s households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F72  ›  Coverage by barangay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Client,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 survey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F72  ›  Download buttons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Client,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your password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Profile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levels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someone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3D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6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E8D3"/>
                </a:solidFill>
              </a:rPr>
              <a:t>Need another module? Ask an administrator to update your access in System Users.</a:t>
            </a:r>
            <a:endParaRPr lang="en-US" sz="1600" dirty="0"/>
          </a:p>
        </p:txBody>
      </p:sp>
      <p:sp>
        <p:nvSpPr>
          <p:cNvPr id="4" name="TbLeaf circle"/>
          <p:cNvSpPr/>
          <p:nvPr/>
        </p:nvSpPr>
        <p:spPr>
          <a:xfrm>
            <a:off x="548640" y="548640"/>
            <a:ext cx="566928" cy="566928"/>
          </a:xfrm>
          <a:prstGeom prst="ellipse">
            <a:avLst/>
          </a:prstGeom>
          <a:solidFill>
            <a:srgbClr val="15803D"/>
          </a:solidFill>
          <a:ln/>
        </p:spPr>
      </p:sp>
      <p:pic>
        <p:nvPicPr>
          <p:cNvPr id="5" name="TbLeaf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364" y="67336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Dietary Dashboard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8503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E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DOST-FNRI</a:t>
            </a:r>
            <a:endParaRPr lang="en-US" sz="1200" dirty="0"/>
          </a:p>
        </p:txBody>
      </p:sp>
      <p:sp>
        <p:nvSpPr>
          <p:cNvPr id="8" name="F72 screenshot frame"/>
          <p:cNvSpPr/>
          <p:nvPr/>
        </p:nvSpPr>
        <p:spPr>
          <a:xfrm>
            <a:off x="5257800" y="1325880"/>
            <a:ext cx="3520440" cy="1979281"/>
          </a:xfrm>
          <a:prstGeom prst="roundRect">
            <a:avLst>
              <a:gd name="adj" fmla="val 2772"/>
            </a:avLst>
          </a:prstGeom>
          <a:solidFill>
            <a:schemeClr val="bg1"/>
          </a:solidFill>
          <a:ln w="9525">
            <a:solidFill>
              <a:srgbClr val="D5E3D9"/>
            </a:solidFill>
            <a:prstDash val="solid"/>
          </a:ln>
          <a:effectLst>
            <a:outerShdw sx="100000" sy="100000" kx="0" ky="0" algn="bl" rotWithShape="0" blurRad="101600" dist="25400" dir="5400000">
              <a:srgbClr val="0F3D22">
                <a:alpha val="18000"/>
              </a:srgbClr>
            </a:outerShdw>
          </a:effectLst>
        </p:spPr>
      </p:sp>
      <p:pic>
        <p:nvPicPr>
          <p:cNvPr id="9" name="F72 screenshot" descr="F72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1353312"/>
            <a:ext cx="3465576" cy="19244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ietary Dashboard">
  <a:themeElements>
    <a:clrScheme name="Dietary Dashboard">
      <a:dk1>
        <a:srgbClr val="1B241E"/>
      </a:dk1>
      <a:lt1>
        <a:srgbClr val="FFFFFF"/>
      </a:lt1>
      <a:dk2>
        <a:srgbClr val="0F3D22"/>
      </a:dk2>
      <a:lt2>
        <a:srgbClr val="EEF5F0"/>
      </a:lt2>
      <a:accent1>
        <a:srgbClr val="15803D"/>
      </a:accent1>
      <a:accent2>
        <a:srgbClr val="4ADE80"/>
      </a:accent2>
      <a:accent3>
        <a:srgbClr val="1D4ED8"/>
      </a:accent3>
      <a:accent4>
        <a:srgbClr val="B45309"/>
      </a:accent4>
      <a:accent5>
        <a:srgbClr val="B91C1C"/>
      </a:accent5>
      <a:accent6>
        <a:srgbClr val="5B6B62"/>
      </a:accent6>
      <a:hlink>
        <a:srgbClr val="15803D"/>
      </a:hlink>
      <a:folHlink>
        <a:srgbClr val="0F3D22"/>
      </a:folHlink>
    </a:clrScheme>
    <a:fontScheme name="Dietary Dash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DOST-FNRI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Dietary Dashboard - System navigation and user levels</dc:title>
  <dc:subject>PptxGenJS Presentation</dc:subject>
  <dc:creator>DOST-FNRI</dc:creator>
  <cp:lastModifiedBy>DOST-FNRI</cp:lastModifiedBy>
  <cp:revision>1</cp:revision>
  <dcterms:created xsi:type="dcterms:W3CDTF">2026-10-12T03:44:12Z</dcterms:created>
  <dcterms:modified xsi:type="dcterms:W3CDTF">2026-10-12T03:44:12Z</dcterms:modified>
</cp:coreProperties>
</file>